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892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ICON1C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0" y="4892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&amp; Confidential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ICON1C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Global Leader in Luxury Experiences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 Investor Update — 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- </a:t>
            </a:r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ICON1C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+ MISSION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34640" y="1005840"/>
            <a:ext cx="5852160" cy="594360"/>
          </a:xfrm>
          <a:prstGeom prst="roundRect">
            <a:avLst>
              <a:gd name="adj" fmla="val 7692"/>
            </a:avLst>
          </a:prstGeom>
          <a:solidFill>
            <a:srgbClr val="F5F0E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2286000" cy="1005840"/>
          </a:xfrm>
          <a:prstGeom prst="roundRect">
            <a:avLst>
              <a:gd name="adj" fmla="val 4545"/>
            </a:avLst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TRENDS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1828800"/>
            <a:ext cx="5852160" cy="1005840"/>
          </a:xfrm>
          <a:prstGeom prst="roundRect">
            <a:avLst>
              <a:gd name="adj" fmla="val 4545"/>
            </a:avLst>
          </a:prstGeom>
          <a:solidFill>
            <a:srgbClr val="F5F0E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01752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0175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34640" y="3017520"/>
            <a:ext cx="5852160" cy="594360"/>
          </a:xfrm>
          <a:prstGeom prst="roundRect">
            <a:avLst>
              <a:gd name="adj" fmla="val 7692"/>
            </a:avLst>
          </a:prstGeom>
          <a:solidFill>
            <a:srgbClr val="F5F0E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97764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9776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34640" y="3977640"/>
            <a:ext cx="5852160" cy="594360"/>
          </a:xfrm>
          <a:prstGeom prst="roundRect">
            <a:avLst>
              <a:gd name="adj" fmla="val 7692"/>
            </a:avLst>
          </a:prstGeom>
          <a:solidFill>
            <a:srgbClr val="F5F0E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10058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Global Leader in Luxury Experiences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182880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Study confirms: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 People are seeking unforgettable experiences, over expensive products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 The HNW demographic is growing rapidly every year, especially in APAC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 Increased priority by HNWs towards privacy and sense of community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301752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Leaders in Global Luxury Products (LVMH, Kering, Richemont)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39776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 operators and brands in Experiences verticals to build dominance and extract better economic returns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Financials and Metrics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ICON1C FINANCIAL SNAPSHOT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$'000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 2025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 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- Mandala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- Amber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- Edge Global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Revenue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Cashflow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- Mandala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- Amber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- Edge Global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- Group Costs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Free Cashflow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Q1 2026 financial data to be inserted ]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Membership Report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 — 4,500 PAYING MEMBERS.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ACTIVE MEMBERS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0" y="109728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PAYING MEMBERS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651760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651760" y="17830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48640" y="2468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8640" y="28803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 total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560320" y="219456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265176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RESIGNATIONS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651760" y="2468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651760" y="28803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 total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291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 ACQUISITION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48640" y="3566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48640" y="39776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 total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60320" y="329184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/>
        </p:spPr>
      </p:sp>
      <p:sp>
        <p:nvSpPr>
          <p:cNvPr id="26" name="Text 24"/>
          <p:cNvSpPr/>
          <p:nvPr/>
        </p:nvSpPr>
        <p:spPr>
          <a:xfrm>
            <a:off x="2651760" y="3291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JOINING FEES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651760" y="3566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2651760" y="39776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 total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75488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HIGHLIGHTS / NOTES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14630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[Membership growth commentary to be inserted]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[Acquisition vs resignation trends]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[Joining fees YoY comparison]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[Product refresh / new initiatives impact]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Membership dashboard screenshot to be inserted ]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 Engagement Report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0" y="2743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 — MEMBERS VISITING 15x PER YEAR.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Engagement metrics and visit frequency charts to be inserted ]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 Opportunities</a:t>
            </a:r>
            <a:endParaRPr lang="en-US" sz="4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</a:t>
            </a:r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GLOBAL EVENTS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Acquisition completed in Q1 2026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One of the largest F1 hospitality companies globally with official access to Paddock Club Tickets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Acquisition Metrics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○  ICON1C acquiring 75%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○  GBP 1.5m (S$2.6m) in cash, GBP 1,312,500 in Convertible notes.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○  Implies a purchase multiple of 5x EBITDA and 2.34x EBITDA on a cash basis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○  Deal closed Q1 2026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Synergies with Amber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○  Amber always has excess demand for Paddock Club Tickets. Ability to package and upsell to clients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○  Integrated sales team combining Edge and Amber for broader HNW reach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○  Operational synergies when accessing hospitality inventory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○  Push prices up through combined brand power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GBP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8,197,780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7,876,389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7,498,000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7,600,000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8,500,000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Profit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1,097,036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991,441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1,148,000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1,170,000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1,360,000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732,990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593,216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749,000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761,000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AMEX</a:t>
            </a:r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x Mandala Wellness Space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community-driven Longevity space positioned adjacent to Mandala Club. Sharing its elevated, cultural, and community-driven DNA while standing apart with a focus on longevity, biohacking, mental clarity, movement, and intergenerational well-being.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0" y="914400"/>
            <a:ext cx="2743200" cy="2286000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943600" y="16459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Wellness Space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Rendering 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Levels 2 &amp; 3, 29 Bukit Pasoh Road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pPr indent="0" marL="0"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To be updated ]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Access: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Mandala members + eligible partners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Additional features and photos to be inserted by Dennis ]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Mandala Racquet Club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0" y="822960"/>
            <a:ext cx="3657600" cy="3200400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Insert MRC Photo 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4389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Padel / Pickleball is on fire and a profitable business model with still significant room for more capacity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All of Singapore's courts are basic, and offer no hospitality or community — Mandala changes that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The demand for facility-heavy, family-friendly spaces remains strong and resilient. We predict over 100,000 visitors per annum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Custom-built changing rooms, bespoke F&amp;B menus, sports &amp; holistic wellness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326 new members acquired through MRC launch in Q1 2026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Bringing us closer to our north star of 15 visits per member per year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Singapore F1 Race Week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Week of ICON1C Experiences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Lounge Rebrand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rebrand for 2026 — elevating the iconic Amber Lounge experience to new heights. Going to be huge.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Party — Saturday &amp; Sunday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signature Amber Lounge race weekend experience across two nights.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Penthouse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Ultra-premium VIP experience — the pinnacle of F1 luxury hospitality.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by Collective Minds x ICON1C — Friday Night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price point. Different genre. GA crowd. Expands our reach beyond the ultra-luxury segment into a broader audience.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Global — 2x More Paddock Club Inventory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 more SG Paddock Club passes secured for 2026 due to our confidence to sell with both the Edge and Amber sales teams working together.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Tapping Our Collective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Expertise</a:t>
            </a:r>
            <a:endParaRPr lang="en-US" sz="4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Investment Pillars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LVMH of Experiences — acquiring established luxury experience brands, unlocking synergies, preserving brand DNA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417320"/>
            <a:ext cx="274320" cy="36576"/>
          </a:xfrm>
          <a:prstGeom prst="rect">
            <a:avLst/>
          </a:prstGeom>
          <a:solidFill>
            <a:srgbClr val="C9A96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VIP Hospitality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Experiences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F1 Hospitality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Sports Travel &amp; Tickets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Luxury Travel Agents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VIP Event Packages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3429000" y="1417320"/>
            <a:ext cx="274320" cy="36576"/>
          </a:xfrm>
          <a:prstGeom prst="rect">
            <a:avLst/>
          </a:prstGeom>
          <a:solidFill>
            <a:srgbClr val="C9A96A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22860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Physical Members Clubs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Digital Members Clubs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Professional Networks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Lifestyle Communities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3640" y="1417320"/>
            <a:ext cx="274320" cy="36576"/>
          </a:xfrm>
          <a:prstGeom prst="rect">
            <a:avLst/>
          </a:prstGeom>
          <a:solidFill>
            <a:srgbClr val="C9A96A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Wellness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22860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Ice Bath &amp; Sauna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Longevity Retreats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Boutique Fitness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Holistic Wellness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WE INVEST WHEN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Owns IP, proprietary supply, or strong known brand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Consistent profit with long track record of growing profitability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Entrepreneur 100% committed to staying and building with ICON1C long-term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Sells majority for shares or cash+shares (joins as ICON1C shareholder)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Track record &gt;3 years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SE Asia, Australia, Middle East (preferred), Europe (acceptable)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84048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9050">
            <a:solidFill>
              <a:srgbClr val="D32F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WE PASS WHEN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150876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Agencies with no product differentiation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Not profitable / lost money historically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Entrepreneur looking to exit immediately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Wants 100% cash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Fresh startup with no proven market fit (partnership only)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USA or distant geographies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Expanding the Mandala Brand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 Locations Strategy — Country Club Concept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Vision: Expand Mandala to multiple locations across Singapore to cement our position as the undisputed leader in premium social clubs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Modern country club concept — combining social, dining, wellness, and sport under one brand across the island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Multiple touchpoints = higher member engagement, stronger retention, greater lifetime value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Singapore as the blueprint for regional expansion across SE Asia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Asset-light approach for 2026: more SG venues, wellness, Dubai, and M&amp;A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ICON1C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Global Leader in Luxury Experiences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&amp;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ICON1C Q1 2026 Investor Update</dc:title>
  <dc:subject>PptxGenJS Presentation</dc:subject>
  <dc:creator>ICON1C</dc:creator>
  <cp:lastModifiedBy>ICON1C</cp:lastModifiedBy>
  <cp:revision>1</cp:revision>
  <dcterms:created xsi:type="dcterms:W3CDTF">2026-05-22T05:43:09Z</dcterms:created>
  <dcterms:modified xsi:type="dcterms:W3CDTF">2026-05-22T05:43:09Z</dcterms:modified>
</cp:coreProperties>
</file>